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ge_1_img_1_16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457200"/>
            <a:ext cx="2834640" cy="101505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160020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93C5FD"/>
                </a:solidFill>
              </a:rPr>
              <a:t>DEPARTMENT OF AIT-CSE • CHANDIGARH UNIVERSITY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362895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TRAIN TICKET BOOKING SYSTEM</a:t>
            </a:r>
          </a:p>
          <a:p>
            <a:pPr algn="ctr"/>
            <a:r>
              <a:rPr sz="1600" b="1">
                <a:solidFill>
                  <a:srgbClr val="38BDF8"/>
                </a:solidFill>
              </a:rPr>
              <a:t>GADDVYA: Next-Gen Indian Railways Reservation &amp; Transit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566160"/>
            <a:ext cx="94484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CBD5E1"/>
                </a:solidFill>
              </a:rPr>
              <a:t>Submitted in partial fulfillment for the award of the degree of
BACHELOR OF ENGINEERING (HONS.) IN COMPUTER SCIENCE AND ENGINEERING (DATA SCIENCE)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45920" y="4480560"/>
            <a:ext cx="8899855" cy="17373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11680" y="4617720"/>
            <a:ext cx="82296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94A3B8"/>
                </a:solidFill>
              </a:rPr>
              <a:t>Submitted by:                                                            Under the Supervision of:
</a:t>
            </a:r>
          </a:p>
          <a:p>
            <a:r>
              <a:rPr sz="1300" b="1">
                <a:solidFill>
                  <a:srgbClr val="FFFFFF"/>
                </a:solidFill>
              </a:rPr>
              <a:t>HIMANSHU GOYAL (Sole Author)                              Er. Dheeresh Aggarwal
</a:t>
            </a:r>
            <a:r>
              <a:rPr sz="1300" b="1">
                <a:solidFill>
                  <a:srgbClr val="FFFFFF"/>
                </a:solidFill>
              </a:rPr>
              <a:t>UID: 24BDA70369 • Session: 2026–2027                     Assistant Professor, Dept of AIT-CSE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8229600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000" b="1">
                <a:solidFill>
                  <a:srgbClr val="93C5FD"/>
                </a:solidFill>
              </a:rPr>
              <a:t>AGENDA &amp; ROADMAP</a:t>
            </a:r>
          </a:p>
          <a:p>
            <a:r>
              <a:rPr sz="2200" b="1">
                <a:solidFill>
                  <a:srgbClr val="FFFFFF"/>
                </a:solidFill>
              </a:rPr>
              <a:t>Presentation Outline</a:t>
            </a:r>
          </a:p>
        </p:txBody>
      </p:sp>
      <p:pic>
        <p:nvPicPr>
          <p:cNvPr id="4" name="Picture 3" descr="page_1_img_1_16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164592"/>
            <a:ext cx="2011680" cy="72036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65392"/>
            <a:ext cx="10728655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r>
              <a:rPr sz="950">
                <a:solidFill>
                  <a:srgbClr val="475569"/>
                </a:solidFill>
              </a:rPr>
              <a:t>Chandigarh University • Dept of AIT-CSE • Himanshu Goyal (24BDA70369) • Supervisor: Er. Dheeresh Aggarwal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52120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435607"/>
            <a:ext cx="4937760" cy="8686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r>
              <a:rPr b="1" sz="1300">
                <a:solidFill>
                  <a:srgbClr val="2563EB"/>
                </a:solidFill>
              </a:rPr>
              <a:t>[01]  </a:t>
            </a:r>
            <a:r>
              <a:rPr b="1" sz="1300">
                <a:solidFill>
                  <a:srgbClr val="0F172A"/>
                </a:solidFill>
              </a:rPr>
              <a:t>Introduction to Project</a:t>
            </a:r>
          </a:p>
          <a:p>
            <a:r>
              <a:rPr sz="1000">
                <a:solidFill>
                  <a:srgbClr val="475569"/>
                </a:solidFill>
              </a:rPr>
              <a:t>Problem domain, scope, and engineering motivation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25880"/>
            <a:ext cx="52120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435607"/>
            <a:ext cx="4937760" cy="8686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r>
              <a:rPr b="1" sz="1300">
                <a:solidFill>
                  <a:srgbClr val="2563EB"/>
                </a:solidFill>
              </a:rPr>
              <a:t>[02]  </a:t>
            </a:r>
            <a:r>
              <a:rPr b="1" sz="1300">
                <a:solidFill>
                  <a:srgbClr val="0F172A"/>
                </a:solidFill>
              </a:rPr>
              <a:t>Problem Formulation</a:t>
            </a:r>
          </a:p>
          <a:p>
            <a:r>
              <a:rPr sz="1000">
                <a:solidFill>
                  <a:srgbClr val="475569"/>
                </a:solidFill>
              </a:rPr>
              <a:t>Systemic bottlenecks of legacy Indian railway ticketing portals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560320"/>
            <a:ext cx="52120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670048"/>
            <a:ext cx="4937760" cy="8686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r>
              <a:rPr b="1" sz="1300">
                <a:solidFill>
                  <a:srgbClr val="2563EB"/>
                </a:solidFill>
              </a:rPr>
              <a:t>[03]  </a:t>
            </a:r>
            <a:r>
              <a:rPr b="1" sz="1300">
                <a:solidFill>
                  <a:srgbClr val="0F172A"/>
                </a:solidFill>
              </a:rPr>
              <a:t>Objectives of the Work</a:t>
            </a:r>
          </a:p>
          <a:p>
            <a:r>
              <a:rPr sz="1000">
                <a:solidFill>
                  <a:srgbClr val="475569"/>
                </a:solidFill>
              </a:rPr>
              <a:t>Core engineering targets, security criteria, and feature milestones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560320"/>
            <a:ext cx="52120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2670048"/>
            <a:ext cx="4937760" cy="8686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r>
              <a:rPr b="1" sz="1300">
                <a:solidFill>
                  <a:srgbClr val="2563EB"/>
                </a:solidFill>
              </a:rPr>
              <a:t>[04]  </a:t>
            </a:r>
            <a:r>
              <a:rPr b="1" sz="1300">
                <a:solidFill>
                  <a:srgbClr val="0F172A"/>
                </a:solidFill>
              </a:rPr>
              <a:t>Methodology &amp; Architecture</a:t>
            </a:r>
          </a:p>
          <a:p>
            <a:r>
              <a:rPr sz="1000">
                <a:solidFill>
                  <a:srgbClr val="475569"/>
                </a:solidFill>
              </a:rPr>
              <a:t>Full-stack serverless design, Supabase PostgreSQL, and agile flow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794760"/>
            <a:ext cx="52120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904488"/>
            <a:ext cx="4937760" cy="8686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r>
              <a:rPr b="1" sz="1300">
                <a:solidFill>
                  <a:srgbClr val="2563EB"/>
                </a:solidFill>
              </a:rPr>
              <a:t>[05]  </a:t>
            </a:r>
            <a:r>
              <a:rPr b="1" sz="1300">
                <a:solidFill>
                  <a:srgbClr val="0F172A"/>
                </a:solidFill>
              </a:rPr>
              <a:t>Core Technical Innovations</a:t>
            </a:r>
          </a:p>
          <a:p>
            <a:r>
              <a:rPr sz="1000">
                <a:solidFill>
                  <a:srgbClr val="475569"/>
                </a:solidFill>
              </a:rPr>
              <a:t>GADDVYA Rail Wallet, Dual-Factor OTP, Turbo Seeder, and i18n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794760"/>
            <a:ext cx="52120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3904488"/>
            <a:ext cx="4937760" cy="8686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r>
              <a:rPr b="1" sz="1300">
                <a:solidFill>
                  <a:srgbClr val="2563EB"/>
                </a:solidFill>
              </a:rPr>
              <a:t>[06]  </a:t>
            </a:r>
            <a:r>
              <a:rPr b="1" sz="1300">
                <a:solidFill>
                  <a:srgbClr val="0F172A"/>
                </a:solidFill>
              </a:rPr>
              <a:t>Results and Outputs</a:t>
            </a:r>
          </a:p>
          <a:p>
            <a:r>
              <a:rPr sz="1000">
                <a:solidFill>
                  <a:srgbClr val="475569"/>
                </a:solidFill>
              </a:rPr>
              <a:t>Subsystem walkthrough, live telemetry, e-catering, and admin charts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029200"/>
            <a:ext cx="52120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5138928"/>
            <a:ext cx="4937760" cy="8686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r>
              <a:rPr b="1" sz="1300">
                <a:solidFill>
                  <a:srgbClr val="2563EB"/>
                </a:solidFill>
              </a:rPr>
              <a:t>[07]  </a:t>
            </a:r>
            <a:r>
              <a:rPr b="1" sz="1300">
                <a:solidFill>
                  <a:srgbClr val="0F172A"/>
                </a:solidFill>
              </a:rPr>
              <a:t>Conclusion &amp; Achievements</a:t>
            </a:r>
          </a:p>
          <a:p>
            <a:r>
              <a:rPr sz="1000">
                <a:solidFill>
                  <a:srgbClr val="475569"/>
                </a:solidFill>
              </a:rPr>
              <a:t>Evaluation against industry performance benchmarks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5029200"/>
            <a:ext cx="52120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5138928"/>
            <a:ext cx="4937760" cy="8686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r>
              <a:rPr b="1" sz="1300">
                <a:solidFill>
                  <a:srgbClr val="2563EB"/>
                </a:solidFill>
              </a:rPr>
              <a:t>[08]  </a:t>
            </a:r>
            <a:r>
              <a:rPr b="1" sz="1300">
                <a:solidFill>
                  <a:srgbClr val="0F172A"/>
                </a:solidFill>
              </a:rPr>
              <a:t>Future Scope &amp; References</a:t>
            </a:r>
          </a:p>
          <a:p>
            <a:r>
              <a:rPr sz="1000">
                <a:solidFill>
                  <a:srgbClr val="475569"/>
                </a:solidFill>
              </a:rPr>
              <a:t>Production extensions, CRIS integration, and academic citations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8229600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000" b="1">
                <a:solidFill>
                  <a:srgbClr val="93C5FD"/>
                </a:solidFill>
              </a:rPr>
              <a:t>SYSTEM OVERVIEW</a:t>
            </a:r>
          </a:p>
          <a:p>
            <a:r>
              <a:rPr sz="2200" b="1">
                <a:solidFill>
                  <a:srgbClr val="FFFFFF"/>
                </a:solidFill>
              </a:rPr>
              <a:t>Introduction to Project (GADDVYA)</a:t>
            </a:r>
          </a:p>
        </p:txBody>
      </p:sp>
      <p:pic>
        <p:nvPicPr>
          <p:cNvPr id="4" name="Picture 3" descr="page_1_img_1_16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164592"/>
            <a:ext cx="2011680" cy="72036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65392"/>
            <a:ext cx="10728655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r>
              <a:rPr sz="950">
                <a:solidFill>
                  <a:srgbClr val="475569"/>
                </a:solidFill>
              </a:rPr>
              <a:t>Chandigarh University • Dept of AIT-CSE • Himanshu Goyal (24BDA70369) • Supervisor: Er. Dheeresh Aggarwal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48640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46304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1E3A8A"/>
                </a:solidFill>
              </a:rPr>
              <a:t>Project Overview &amp; Engineering Purpose
</a:t>
            </a:r>
          </a:p>
          <a:p>
            <a:pPr>
              <a:spcBef>
                <a:spcPts val="800"/>
              </a:spcBef>
            </a:pPr>
            <a:r>
              <a:rPr sz="1050">
                <a:solidFill>
                  <a:srgbClr val="0F172A"/>
                </a:solidFill>
              </a:rPr>
              <a:t>Full-Stack Railway Transit Solution: </a:t>
            </a:r>
            <a:r>
              <a:rPr sz="1000">
                <a:solidFill>
                  <a:srgbClr val="475569"/>
                </a:solidFill>
              </a:rPr>
              <a:t>A complete web application designed to modernize the traditional Indian Railways booking experience with ultra-low latency and intuitive UX.</a:t>
            </a:r>
          </a:p>
          <a:p>
            <a:pPr>
              <a:spcBef>
                <a:spcPts val="800"/>
              </a:spcBef>
            </a:pPr>
            <a:r>
              <a:rPr sz="1050">
                <a:solidFill>
                  <a:srgbClr val="0F172A"/>
                </a:solidFill>
              </a:rPr>
              <a:t>Architectural Evolution: </a:t>
            </a:r>
            <a:r>
              <a:rPr sz="1000">
                <a:solidFill>
                  <a:srgbClr val="475569"/>
                </a:solidFill>
              </a:rPr>
              <a:t>Evolved from basic NoSQL prototypes into a cloud-native Next.js 16 App Router application backed by Supabase PostgreSQL for ACID transactional seat locking.</a:t>
            </a:r>
          </a:p>
          <a:p>
            <a:pPr>
              <a:spcBef>
                <a:spcPts val="800"/>
              </a:spcBef>
            </a:pPr>
            <a:r>
              <a:rPr sz="1050">
                <a:solidFill>
                  <a:srgbClr val="0F172A"/>
                </a:solidFill>
              </a:rPr>
              <a:t>Pan-India Train Fleet: </a:t>
            </a:r>
            <a:r>
              <a:rPr sz="1000">
                <a:solidFill>
                  <a:srgbClr val="475569"/>
                </a:solidFill>
              </a:rPr>
              <a:t>Operates on 25,571 daily Indian Railways train schedules with a 1-Click Turbo Fleet Seeder capable of instantiating 400+ premier trains in &lt;1 second.</a:t>
            </a:r>
          </a:p>
          <a:p>
            <a:pPr>
              <a:spcBef>
                <a:spcPts val="800"/>
              </a:spcBef>
            </a:pPr>
            <a:r>
              <a:rPr sz="1050">
                <a:solidFill>
                  <a:srgbClr val="0F172A"/>
                </a:solidFill>
              </a:rPr>
              <a:t>Eliminating Tatkal Failures: </a:t>
            </a:r>
            <a:r>
              <a:rPr sz="1000">
                <a:solidFill>
                  <a:srgbClr val="475569"/>
                </a:solidFill>
              </a:rPr>
              <a:t>Features the GADDVYA Rail Wallet providing 1-click Tatkal checkout with zero gateway dropouts and 100% instant auto-refunds on cancellation.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1280160"/>
            <a:ext cx="4937760" cy="493776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146304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2563EB"/>
                </a:solidFill>
              </a:rPr>
              <a:t>Integrated Transit Modules
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0F172A"/>
                </a:solidFill>
              </a:rPr>
              <a:t>• Dual-Factor OTP Authentication: </a:t>
            </a:r>
            <a:r>
              <a:rPr sz="950">
                <a:solidFill>
                  <a:srgbClr val="475569"/>
                </a:solidFill>
              </a:rPr>
              <a:t>Mandates domain-restricted emails (Gmail, Outlook, iCloud, Yahoo) and 10-digit Indian phone SMS OTPs.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0F172A"/>
                </a:solidFill>
              </a:rPr>
              <a:t>• Official IRCTC Royal Blue Navigation: </a:t>
            </a:r>
            <a:r>
              <a:rPr sz="950">
                <a:solidFill>
                  <a:srgbClr val="475569"/>
                </a:solidFill>
              </a:rPr>
              <a:t>Active underline tabs, live ticking IST clock, 24x7 Helpline 139, and roles for Passenger, Agent, and Admin.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0F172A"/>
                </a:solidFill>
              </a:rPr>
              <a:t>• Live In-Transit Telemetry: </a:t>
            </a:r>
            <a:r>
              <a:rPr sz="950">
                <a:solidFill>
                  <a:srgbClr val="475569"/>
                </a:solidFill>
              </a:rPr>
              <a:t>Real-time Tatkal Countdown ticking clock, GPS train delay status tracker, and IRCTC e-catering seat delivery.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0F172A"/>
                </a:solidFill>
              </a:rPr>
              <a:t>• Coach Map Berth Allocation: </a:t>
            </a:r>
            <a:r>
              <a:rPr sz="950">
                <a:solidFill>
                  <a:srgbClr val="475569"/>
                </a:solidFill>
              </a:rPr>
              <a:t>6 travel tiers (1A, 2A, 3A, SL, CC, EC), coach seat maps, 10-digit PNR, and downloadable PDF E-Tickets with QR codes.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0F172A"/>
                </a:solidFill>
              </a:rPr>
              <a:t>• Dynamic Admin Analytics: </a:t>
            </a:r>
            <a:r>
              <a:rPr sz="950">
                <a:solidFill>
                  <a:srgbClr val="475569"/>
                </a:solidFill>
              </a:rPr>
              <a:t>Scalable Vector Graphics (SVG) charts for revenue, class share, and route occupancy capacity.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8229600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000" b="1">
                <a:solidFill>
                  <a:srgbClr val="93C5FD"/>
                </a:solidFill>
              </a:rPr>
              <a:t>INFOGRAPHIC OVERVIEW</a:t>
            </a:r>
          </a:p>
          <a:p>
            <a:r>
              <a:rPr sz="2200" b="1">
                <a:solidFill>
                  <a:srgbClr val="FFFFFF"/>
                </a:solidFill>
              </a:rPr>
              <a:t>System High-Level Architecture &amp; Highlights</a:t>
            </a:r>
          </a:p>
        </p:txBody>
      </p:sp>
      <p:pic>
        <p:nvPicPr>
          <p:cNvPr id="4" name="Picture 3" descr="page_1_img_1_16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164592"/>
            <a:ext cx="2011680" cy="72036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65392"/>
            <a:ext cx="10728655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r>
              <a:rPr sz="950">
                <a:solidFill>
                  <a:srgbClr val="475569"/>
                </a:solidFill>
              </a:rPr>
              <a:t>Chandigarh University • Dept of AIT-CSE • Himanshu Goyal (24BDA70369) • Supervisor: Er. Dheeresh Aggarwal</a:t>
            </a:r>
          </a:p>
        </p:txBody>
      </p:sp>
      <p:pic>
        <p:nvPicPr>
          <p:cNvPr id="7" name="Picture 6" descr="graphical_abstra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280160"/>
            <a:ext cx="6583680" cy="3923607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589520" y="1280160"/>
            <a:ext cx="38404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0" y="146304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E3A8A"/>
                </a:solidFill>
              </a:rPr>
              <a:t>Production Technology Stack
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0F172A"/>
                </a:solidFill>
              </a:rPr>
              <a:t>Framework: </a:t>
            </a:r>
            <a:r>
              <a:rPr sz="900">
                <a:solidFill>
                  <a:srgbClr val="475569"/>
                </a:solidFill>
              </a:rPr>
              <a:t>Next.js 16.2.3 (App Router)
(Full-Stack Serverless)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0F172A"/>
                </a:solidFill>
              </a:rPr>
              <a:t>Language: </a:t>
            </a:r>
            <a:r>
              <a:rPr sz="900">
                <a:solidFill>
                  <a:srgbClr val="475569"/>
                </a:solidFill>
              </a:rPr>
              <a:t>TypeScript 5.x
(End-to-End Type Safety)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0F172A"/>
                </a:solidFill>
              </a:rPr>
              <a:t>Database: </a:t>
            </a:r>
            <a:r>
              <a:rPr sz="900">
                <a:solidFill>
                  <a:srgbClr val="475569"/>
                </a:solidFill>
              </a:rPr>
              <a:t>Supabase (Cloud PostgreSQL)
(ACID Concurrency Locks)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0F172A"/>
                </a:solidFill>
              </a:rPr>
              <a:t>Styling: </a:t>
            </a:r>
            <a:r>
              <a:rPr sz="900">
                <a:solidFill>
                  <a:srgbClr val="475569"/>
                </a:solidFill>
              </a:rPr>
              <a:t>Tailwind CSS v4.x
(Modern Responsive UI)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0F172A"/>
                </a:solidFill>
              </a:rPr>
              <a:t>State / i18n: </a:t>
            </a:r>
            <a:r>
              <a:rPr sz="900">
                <a:solidFill>
                  <a:srgbClr val="475569"/>
                </a:solidFill>
              </a:rPr>
              <a:t>Zustand 5.x
(English, Hindi, Punjabi)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0F172A"/>
                </a:solidFill>
              </a:rPr>
              <a:t>Security: </a:t>
            </a:r>
            <a:r>
              <a:rPr sz="900">
                <a:solidFill>
                  <a:srgbClr val="475569"/>
                </a:solidFill>
              </a:rPr>
              <a:t>bcryptjs (10 rounds) + JWT
(2FA Email &amp; SMS OTP)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0F172A"/>
                </a:solidFill>
              </a:rPr>
              <a:t>E-Tickets: </a:t>
            </a:r>
            <a:r>
              <a:rPr sz="900">
                <a:solidFill>
                  <a:srgbClr val="475569"/>
                </a:solidFill>
              </a:rPr>
              <a:t>jsPDF 4.2.x
(Client-Side QR E-Tickets)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0F172A"/>
                </a:solidFill>
              </a:rPr>
              <a:t>Hosting: </a:t>
            </a:r>
            <a:r>
              <a:rPr sz="900">
                <a:solidFill>
                  <a:srgbClr val="475569"/>
                </a:solidFill>
              </a:rPr>
              <a:t>Vercel Global Edge Network
(Automated GitHub CI/CD)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8229600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000" b="1">
                <a:solidFill>
                  <a:srgbClr val="93C5FD"/>
                </a:solidFill>
              </a:rPr>
              <a:t>CHALLENGES IN IRCTC</a:t>
            </a:r>
          </a:p>
          <a:p>
            <a:r>
              <a:rPr sz="2200" b="1">
                <a:solidFill>
                  <a:srgbClr val="FFFFFF"/>
                </a:solidFill>
              </a:rPr>
              <a:t>Problem Formulation: Bottlenecks of Existing Systems</a:t>
            </a:r>
          </a:p>
        </p:txBody>
      </p:sp>
      <p:pic>
        <p:nvPicPr>
          <p:cNvPr id="4" name="Picture 3" descr="page_1_img_1_16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164592"/>
            <a:ext cx="2011680" cy="72036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65392"/>
            <a:ext cx="10728655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r>
              <a:rPr sz="950">
                <a:solidFill>
                  <a:srgbClr val="475569"/>
                </a:solidFill>
              </a:rPr>
              <a:t>Chandigarh University • Dept of AIT-CSE • Himanshu Goyal (24BDA70369) • Supervisor: Er. Dheeresh Aggarwal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347472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39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D97706"/>
                </a:solidFill>
              </a:rPr>
              <a:t>1. High Tatkal Server Overload</a:t>
            </a:r>
          </a:p>
          <a:p>
            <a:pPr>
              <a:spcBef>
                <a:spcPts val="600"/>
              </a:spcBef>
            </a:pPr>
            <a:r>
              <a:rPr sz="950">
                <a:solidFill>
                  <a:srgbClr val="475569"/>
                </a:solidFill>
              </a:rPr>
              <a:t>Surges of millions of concurrent requests during 10:00 AM (AC) and 11:00 AM (Non-AC) Tatkal windows lead to 504 Gateway Timeouts and platform crashes.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25880"/>
            <a:ext cx="347472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463039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DC2626"/>
                </a:solidFill>
              </a:rPr>
              <a:t>2. Session Timeouts (&gt;65%)</a:t>
            </a:r>
          </a:p>
          <a:p>
            <a:pPr>
              <a:spcBef>
                <a:spcPts val="600"/>
              </a:spcBef>
            </a:pPr>
            <a:r>
              <a:rPr sz="950">
                <a:solidFill>
                  <a:srgbClr val="475569"/>
                </a:solidFill>
              </a:rPr>
              <a:t>Over 65% of passengers report session drops during booking queues, resulting in lost berth reservations while bank balances are deducted.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325880"/>
            <a:ext cx="347472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463039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B91C1C"/>
                </a:solidFill>
              </a:rPr>
              <a:t>3. Payment Dropouts &amp; Delayed Refunds</a:t>
            </a:r>
          </a:p>
          <a:p>
            <a:pPr>
              <a:spcBef>
                <a:spcPts val="600"/>
              </a:spcBef>
            </a:pPr>
            <a:r>
              <a:rPr sz="950">
                <a:solidFill>
                  <a:srgbClr val="475569"/>
                </a:solidFill>
              </a:rPr>
              <a:t>Third-party payment gateway redirects frequently disconnect under load. Subsequent ticket cancellations require 3 to 7 business days to reconcile refunds.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794760"/>
            <a:ext cx="347472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93192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1E3A8A"/>
                </a:solidFill>
              </a:rPr>
              <a:t>4. Cluttered &amp; Non-Intuitive UI</a:t>
            </a:r>
          </a:p>
          <a:p>
            <a:pPr>
              <a:spcBef>
                <a:spcPts val="600"/>
              </a:spcBef>
            </a:pPr>
            <a:r>
              <a:rPr sz="950">
                <a:solidFill>
                  <a:srgbClr val="475569"/>
                </a:solidFill>
              </a:rPr>
              <a:t>Legacy booking portals require 7+ navigation hops, laden with visual clutter, lacking trilingual localization for regional travelers.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3794760"/>
            <a:ext cx="347472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393192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563EB"/>
                </a:solidFill>
              </a:rPr>
              <a:t>5. Lack of Real-Time In-Transit Telemetry</a:t>
            </a:r>
          </a:p>
          <a:p>
            <a:pPr>
              <a:spcBef>
                <a:spcPts val="600"/>
              </a:spcBef>
            </a:pPr>
            <a:r>
              <a:rPr sz="950">
                <a:solidFill>
                  <a:srgbClr val="475569"/>
                </a:solidFill>
              </a:rPr>
              <a:t>Critical travel utilities — including live GPS train delay status, station progress steppers, and berth meal delivery — are fragmented across separate apps.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3794760"/>
            <a:ext cx="347472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393192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6D28D9"/>
                </a:solidFill>
              </a:rPr>
              <a:t>6. Inadequate Administrative Fleet Analytics</a:t>
            </a:r>
          </a:p>
          <a:p>
            <a:pPr>
              <a:spcBef>
                <a:spcPts val="600"/>
              </a:spcBef>
            </a:pPr>
            <a:r>
              <a:rPr sz="950">
                <a:solidFill>
                  <a:srgbClr val="475569"/>
                </a:solidFill>
              </a:rPr>
              <a:t>Railway operators lack real-time visual analytics tools to monitor travel class occupancy, revenue trends, and execute rapid fleet data updates.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8229600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000" b="1">
                <a:solidFill>
                  <a:srgbClr val="93C5FD"/>
                </a:solidFill>
              </a:rPr>
              <a:t>PROJECT OBJECTIVES</a:t>
            </a:r>
          </a:p>
          <a:p>
            <a:r>
              <a:rPr sz="2200" b="1">
                <a:solidFill>
                  <a:srgbClr val="FFFFFF"/>
                </a:solidFill>
              </a:rPr>
              <a:t>Objectives of the Work: Engineering Targets</a:t>
            </a:r>
          </a:p>
        </p:txBody>
      </p:sp>
      <p:pic>
        <p:nvPicPr>
          <p:cNvPr id="4" name="Picture 3" descr="page_1_img_1_16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164592"/>
            <a:ext cx="2011680" cy="72036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65392"/>
            <a:ext cx="10728655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r>
              <a:rPr sz="950">
                <a:solidFill>
                  <a:srgbClr val="475569"/>
                </a:solidFill>
              </a:rPr>
              <a:t>Chandigarh University • Dept of AIT-CSE • Himanshu Goyal (24BDA70369) • Supervisor: Er. Dheeresh Aggarwal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21208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371600"/>
            <a:ext cx="49377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563EB"/>
                </a:solidFill>
              </a:rPr>
              <a:t>✔  Cloud Relational Architecture</a:t>
            </a:r>
          </a:p>
          <a:p>
            <a:r>
              <a:rPr sz="900">
                <a:solidFill>
                  <a:srgbClr val="475569"/>
                </a:solidFill>
              </a:rPr>
              <a:t>Deploy Next.js 16 serverless framework with Supabase PostgreSQL for ACID transactional seat allocation locks, preventing double booking anomalies under concurrent traffic.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21208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371600"/>
            <a:ext cx="49377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563EB"/>
                </a:solidFill>
              </a:rPr>
              <a:t>✔  Dual-Factor OTP Authentication</a:t>
            </a:r>
          </a:p>
          <a:p>
            <a:r>
              <a:rPr sz="900">
                <a:solidFill>
                  <a:srgbClr val="475569"/>
                </a:solidFill>
              </a:rPr>
              <a:t>Enforce domain-restricted email verification (Gmail, Outlook, iCloud, Yahoo) and 10-digit Indian phone number (+91) SMS OTP validation with bcryptjs password encryption.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514600"/>
            <a:ext cx="521208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606040"/>
            <a:ext cx="49377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563EB"/>
                </a:solidFill>
              </a:rPr>
              <a:t>✔  Pan-India Fleet &amp; Turbo Seeder</a:t>
            </a:r>
          </a:p>
          <a:p>
            <a:r>
              <a:rPr sz="900">
                <a:solidFill>
                  <a:srgbClr val="475569"/>
                </a:solidFill>
              </a:rPr>
              <a:t>Model 25,571 daily Indian Railways train schedules and build a 1-Click Turbo Fleet Seeder that compiles and upserts 400+ premier trains across India in under 1 second.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514600"/>
            <a:ext cx="521208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2606040"/>
            <a:ext cx="49377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563EB"/>
                </a:solidFill>
              </a:rPr>
              <a:t>✔  GADDVYA Rail Wallet &amp; Instant Refunds</a:t>
            </a:r>
          </a:p>
          <a:p>
            <a:r>
              <a:rPr sz="900">
                <a:solidFill>
                  <a:srgbClr val="475569"/>
                </a:solidFill>
              </a:rPr>
              <a:t>Eliminate payment gateway dropouts with 1-Click Tatkal checkout and provide 100% instantaneous auto-refunds back to the user wallet upon ticket cancellation.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749039"/>
            <a:ext cx="521208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840479"/>
            <a:ext cx="49377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563EB"/>
                </a:solidFill>
              </a:rPr>
              <a:t>✔  In-Transit Telemetry &amp; e-Catering</a:t>
            </a:r>
          </a:p>
          <a:p>
            <a:r>
              <a:rPr sz="900">
                <a:solidFill>
                  <a:srgbClr val="475569"/>
                </a:solidFill>
              </a:rPr>
              <a:t>Provide real-time Tatkal Countdown clocks (AC 10:00 AM / Non-AC 11:00 AM IST), live GPS train delay status tracker, and IRCTC e-catering berth meal delivery with PNR validation.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749039"/>
            <a:ext cx="521208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3840479"/>
            <a:ext cx="49377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563EB"/>
                </a:solidFill>
              </a:rPr>
              <a:t>✔  Multi-Class Seat Map &amp; QR E-Tickets</a:t>
            </a:r>
          </a:p>
          <a:p>
            <a:r>
              <a:rPr sz="900">
                <a:solidFill>
                  <a:srgbClr val="475569"/>
                </a:solidFill>
              </a:rPr>
              <a:t>Enable seat reservation across 6 travel tiers (1A, 2A, 3A, SL, CC, EC), coach seat maps, unique 10-digit PNR generation, and client-side downloadable PDF E-Tickets with QR codes.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983480"/>
            <a:ext cx="521208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5074920"/>
            <a:ext cx="49377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563EB"/>
                </a:solidFill>
              </a:rPr>
              <a:t>✔  Trilingual Accessibility &amp; Themes</a:t>
            </a:r>
          </a:p>
          <a:p>
            <a:r>
              <a:rPr sz="900">
                <a:solidFill>
                  <a:srgbClr val="475569"/>
                </a:solidFill>
              </a:rPr>
              <a:t>Deliver seamless language switching across English, Hindi (हिन्दी), and Punjabi (ਪੰਜਾਬੀ), alongside Dark, Light, and IRCTC Royal Blue visual theme options.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4983480"/>
            <a:ext cx="521208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5074920"/>
            <a:ext cx="49377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563EB"/>
                </a:solidFill>
              </a:rPr>
              <a:t>✔  Interactive Admin SVG Analytics</a:t>
            </a:r>
          </a:p>
          <a:p>
            <a:r>
              <a:rPr sz="900">
                <a:solidFill>
                  <a:srgbClr val="475569"/>
                </a:solidFill>
              </a:rPr>
              <a:t>Engineer dynamic Scalable Vector Graphics charts for daily revenue, booking volume timelines, class demand donuts, and route occupancy capacity bars.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8229600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000" b="1">
                <a:solidFill>
                  <a:srgbClr val="93C5FD"/>
                </a:solidFill>
              </a:rPr>
              <a:t>SYSTEM ARCHITECTURE</a:t>
            </a:r>
          </a:p>
          <a:p>
            <a:r>
              <a:rPr sz="2200" b="1">
                <a:solidFill>
                  <a:srgbClr val="FFFFFF"/>
                </a:solidFill>
              </a:rPr>
              <a:t>Methodology: Full-Stack Serverless Architecture</a:t>
            </a:r>
          </a:p>
        </p:txBody>
      </p:sp>
      <p:pic>
        <p:nvPicPr>
          <p:cNvPr id="4" name="Picture 3" descr="page_1_img_1_16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164592"/>
            <a:ext cx="2011680" cy="72036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65392"/>
            <a:ext cx="10728655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r>
              <a:rPr sz="950">
                <a:solidFill>
                  <a:srgbClr val="475569"/>
                </a:solidFill>
              </a:rPr>
              <a:t>Chandigarh University • Dept of AIT-CSE • Himanshu Goyal (24BDA70369) • Supervisor: Er. Dheeresh Aggarwal</a:t>
            </a:r>
          </a:p>
        </p:txBody>
      </p:sp>
      <p:pic>
        <p:nvPicPr>
          <p:cNvPr id="7" name="Picture 6" descr="figure_3_1_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280160"/>
            <a:ext cx="6583680" cy="305142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589520" y="1280160"/>
            <a:ext cx="38404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1463040"/>
            <a:ext cx="3474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E3A8A"/>
                </a:solidFill>
              </a:rPr>
              <a:t>Architectural Highlights
</a:t>
            </a:r>
          </a:p>
          <a:p>
            <a:pPr>
              <a:spcBef>
                <a:spcPts val="800"/>
              </a:spcBef>
            </a:pPr>
            <a:r>
              <a:rPr sz="950">
                <a:solidFill>
                  <a:srgbClr val="0F172A"/>
                </a:solidFill>
              </a:rPr>
              <a:t>Unified Monolithic Serverless: </a:t>
            </a:r>
            <a:r>
              <a:rPr sz="900">
                <a:solidFill>
                  <a:srgbClr val="475569"/>
                </a:solidFill>
              </a:rPr>
              <a:t>Both client UI components and backend Route Handlers coexist within a single Next.js project deployed globally on Vercel Edge nodes.</a:t>
            </a:r>
          </a:p>
          <a:p>
            <a:pPr>
              <a:spcBef>
                <a:spcPts val="800"/>
              </a:spcBef>
            </a:pPr>
            <a:r>
              <a:rPr sz="950">
                <a:solidFill>
                  <a:srgbClr val="0F172A"/>
                </a:solidFill>
              </a:rPr>
              <a:t>ACID Database Reliability: </a:t>
            </a:r>
            <a:r>
              <a:rPr sz="900">
                <a:solidFill>
                  <a:srgbClr val="475569"/>
                </a:solidFill>
              </a:rPr>
              <a:t>Supabase PostgreSQL provides transactional consistency, row-level locking during ticket reservations, and native PostgREST APIs.</a:t>
            </a:r>
          </a:p>
          <a:p>
            <a:pPr>
              <a:spcBef>
                <a:spcPts val="800"/>
              </a:spcBef>
            </a:pPr>
            <a:r>
              <a:rPr sz="950">
                <a:solidFill>
                  <a:srgbClr val="0F172A"/>
                </a:solidFill>
              </a:rPr>
              <a:t>Fail-Safe Local Storage Bridge: </a:t>
            </a:r>
            <a:r>
              <a:rPr sz="900">
                <a:solidFill>
                  <a:srgbClr val="475569"/>
                </a:solidFill>
              </a:rPr>
              <a:t>Equipped with a resilient local JSON database fallback ensuring zero-downtime execution if cloud network credentials fluctuate.</a:t>
            </a:r>
          </a:p>
          <a:p>
            <a:pPr>
              <a:spcBef>
                <a:spcPts val="800"/>
              </a:spcBef>
            </a:pPr>
            <a:r>
              <a:rPr sz="950">
                <a:solidFill>
                  <a:srgbClr val="0F172A"/>
                </a:solidFill>
              </a:rPr>
              <a:t>Stateless Token Security: </a:t>
            </a:r>
            <a:r>
              <a:rPr sz="900">
                <a:solidFill>
                  <a:srgbClr val="475569"/>
                </a:solidFill>
              </a:rPr>
              <a:t>JWT tokens signed with HS256 eliminate server-side session memory overhead, scaling to thousands of simultaneous travelers.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8229600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000" b="1">
                <a:solidFill>
                  <a:srgbClr val="93C5FD"/>
                </a:solidFill>
              </a:rPr>
              <a:t>DEVELOPMENT LIFECYCLE</a:t>
            </a:r>
          </a:p>
          <a:p>
            <a:r>
              <a:rPr sz="2200" b="1">
                <a:solidFill>
                  <a:srgbClr val="FFFFFF"/>
                </a:solidFill>
              </a:rPr>
              <a:t>Methodology: Iterative Development Lifecycle</a:t>
            </a:r>
          </a:p>
        </p:txBody>
      </p:sp>
      <p:pic>
        <p:nvPicPr>
          <p:cNvPr id="4" name="Picture 3" descr="page_1_img_1_16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164592"/>
            <a:ext cx="2011680" cy="72036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65392"/>
            <a:ext cx="10728655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r>
              <a:rPr sz="950">
                <a:solidFill>
                  <a:srgbClr val="475569"/>
                </a:solidFill>
              </a:rPr>
              <a:t>Chandigarh University • Dept of AIT-CSE • Himanshu Goyal (24BDA70369) • Supervisor: Er. Dheeresh Aggarwal</a:t>
            </a:r>
          </a:p>
        </p:txBody>
      </p:sp>
      <p:pic>
        <p:nvPicPr>
          <p:cNvPr id="7" name="Picture 6" descr="figure_3_3_methodolog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234440"/>
            <a:ext cx="3840480" cy="514233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846320" y="1280160"/>
            <a:ext cx="658368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0" y="1371600"/>
            <a:ext cx="62179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E3A8A"/>
                </a:solidFill>
              </a:rPr>
              <a:t>Phase 1: Requirements &amp; User Experience Study</a:t>
            </a:r>
          </a:p>
          <a:p>
            <a:r>
              <a:rPr sz="950">
                <a:solidFill>
                  <a:srgbClr val="475569"/>
                </a:solidFill>
              </a:rPr>
              <a:t>Evaluated 20+ academic papers and real passenger grievances during Tatkal rush. Designed wireframes for the IRCTC Royal Blue navigation suite and 1-click Tatkal Rail Wallet checkout.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46320" y="2514600"/>
            <a:ext cx="658368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0" y="2606040"/>
            <a:ext cx="62179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563EB"/>
                </a:solidFill>
              </a:rPr>
              <a:t>Phase 2: Database Modeling &amp; Schema Migration</a:t>
            </a:r>
          </a:p>
          <a:p>
            <a:r>
              <a:rPr sz="950">
                <a:solidFill>
                  <a:srgbClr val="475569"/>
                </a:solidFill>
              </a:rPr>
              <a:t>Engineered 5 relational schemas on Supabase PostgreSQL: Users, Trains (25,571), Bookings, Wallet Transactions, and OTPs. Created the 1-Click Turbo Fleet Seeder (&lt;1s) for instant premier fleet populating.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46320" y="3749039"/>
            <a:ext cx="658368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0" y="3840479"/>
            <a:ext cx="62179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D97706"/>
                </a:solidFill>
              </a:rPr>
              <a:t>Phase 3: Core Service &amp; Telemetry Integration</a:t>
            </a:r>
          </a:p>
          <a:p>
            <a:r>
              <a:rPr sz="950">
                <a:solidFill>
                  <a:srgbClr val="475569"/>
                </a:solidFill>
              </a:rPr>
              <a:t>Implemented bcrypt password hashing, 2FA OTP verification, live Tatkal countdown clock, GPS train delay status tracker, e-catering seat delivery, and client-side jsPDF ticket engine.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46320" y="4983480"/>
            <a:ext cx="658368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0" y="5074920"/>
            <a:ext cx="62179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059669"/>
                </a:solidFill>
              </a:rPr>
              <a:t>Phase 4: Postman Testing &amp; Automated Edge CI/CD</a:t>
            </a:r>
          </a:p>
          <a:p>
            <a:r>
              <a:rPr sz="950">
                <a:solidFill>
                  <a:srgbClr val="475569"/>
                </a:solidFill>
              </a:rPr>
              <a:t>Executed 12 automated end-to-end test suites validating seat decrement integrity, refund processing, and role-based permissions. Deployed production builds on Vercel with GitHub synchronization.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8229600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000" b="1">
                <a:solidFill>
                  <a:srgbClr val="93C5FD"/>
                </a:solidFill>
              </a:rPr>
              <a:t>CORE MODULES</a:t>
            </a:r>
          </a:p>
          <a:p>
            <a:r>
              <a:rPr sz="2200" b="1">
                <a:solidFill>
                  <a:srgbClr val="FFFFFF"/>
                </a:solidFill>
              </a:rPr>
              <a:t>Methodology: Functional Subsystems &amp; Modules</a:t>
            </a:r>
          </a:p>
        </p:txBody>
      </p:sp>
      <p:pic>
        <p:nvPicPr>
          <p:cNvPr id="4" name="Picture 3" descr="page_1_img_1_16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164592"/>
            <a:ext cx="2011680" cy="72036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65392"/>
            <a:ext cx="10728655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r>
              <a:rPr sz="950">
                <a:solidFill>
                  <a:srgbClr val="475569"/>
                </a:solidFill>
              </a:rPr>
              <a:t>Chandigarh University • Dept of AIT-CSE • Himanshu Goyal (24BDA70369) • Supervisor: Er. Dheeresh Aggarwal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347472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39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1E3A8A"/>
                </a:solidFill>
              </a:rPr>
              <a:t>1. Dual-Factor Auth &amp; RBAC</a:t>
            </a:r>
          </a:p>
          <a:p>
            <a:pPr>
              <a:spcBef>
                <a:spcPts val="600"/>
              </a:spcBef>
            </a:pPr>
            <a:r>
              <a:rPr sz="950">
                <a:solidFill>
                  <a:srgbClr val="475569"/>
                </a:solidFill>
              </a:rPr>
              <a:t>Handles user &amp; agent registration, 6-digit OTP verification for Indian phones and restricted emails, bcrypt password hashing, and role-based access for User, Agent, and Admin.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25880"/>
            <a:ext cx="347472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463039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1E3A8A"/>
                </a:solidFill>
              </a:rPr>
              <a:t>2. Train Discovery &amp; Coach Map</a:t>
            </a:r>
          </a:p>
          <a:p>
            <a:pPr>
              <a:spcBef>
                <a:spcPts val="600"/>
              </a:spcBef>
            </a:pPr>
            <a:r>
              <a:rPr sz="950">
                <a:solidFill>
                  <a:srgbClr val="475569"/>
                </a:solidFill>
              </a:rPr>
              <a:t>Searches 25,571 trains by origin/destination. Displays real-time availability across 6 classes (1A, 2A, 3A, SL, CC, EC) and visual coach berth assignment (Lower, Middle, Upper).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325880"/>
            <a:ext cx="347472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463039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1E3A8A"/>
                </a:solidFill>
              </a:rPr>
              <a:t>3. GADDVYA Rail Wallet</a:t>
            </a:r>
          </a:p>
          <a:p>
            <a:pPr>
              <a:spcBef>
                <a:spcPts val="600"/>
              </a:spcBef>
            </a:pPr>
            <a:r>
              <a:rPr sz="950">
                <a:solidFill>
                  <a:srgbClr val="475569"/>
                </a:solidFill>
              </a:rPr>
              <a:t>Integrated digital wallet offering 1-Click Tatkal checkout to eliminate payment gateway timeouts. Automatically executes 100% instant refunds upon ticket cancellation.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794760"/>
            <a:ext cx="347472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93192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1E3A8A"/>
                </a:solidFill>
              </a:rPr>
              <a:t>4. In-Transit Telemetry &amp; Meals</a:t>
            </a:r>
          </a:p>
          <a:p>
            <a:pPr>
              <a:spcBef>
                <a:spcPts val="600"/>
              </a:spcBef>
            </a:pPr>
            <a:r>
              <a:rPr sz="950">
                <a:solidFill>
                  <a:srgbClr val="475569"/>
                </a:solidFill>
              </a:rPr>
              <a:t>Live Tatkal Countdown ticking clock (AC 10:00 AM / Non-AC 11:00 AM IST), live GPS train delay tracker with station stepper, and IRCTC e-catering food delivery to berth.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3794760"/>
            <a:ext cx="347472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393192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1E3A8A"/>
                </a:solidFill>
              </a:rPr>
              <a:t>5. 10-Digit PNR &amp; PDF E-Tickets</a:t>
            </a:r>
          </a:p>
          <a:p>
            <a:pPr>
              <a:spcBef>
                <a:spcPts val="600"/>
              </a:spcBef>
            </a:pPr>
            <a:r>
              <a:rPr sz="950">
                <a:solidFill>
                  <a:srgbClr val="475569"/>
                </a:solidFill>
              </a:rPr>
              <a:t>Generates unique 10-digit PNR for each reservation. Provides public PNR status lookup and client-side downloadable official PDF E-Tickets with embedded QR codes.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3794760"/>
            <a:ext cx="347472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393192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1E3A8A"/>
                </a:solidFill>
              </a:rPr>
              <a:t>6. Admin Fleet &amp; SVG Analytics</a:t>
            </a:r>
          </a:p>
          <a:p>
            <a:pPr>
              <a:spcBef>
                <a:spcPts val="600"/>
              </a:spcBef>
            </a:pPr>
            <a:r>
              <a:rPr sz="950">
                <a:solidFill>
                  <a:srgbClr val="475569"/>
                </a:solidFill>
              </a:rPr>
              <a:t>Empowers railway administrators with a 1-Click Turbo Fleet Seeder (&lt;1s) and interactive SVG graphs for daily revenue, bookings, class distribution, and route occupancy.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8229600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000" b="1">
                <a:solidFill>
                  <a:srgbClr val="93C5FD"/>
                </a:solidFill>
              </a:rPr>
              <a:t>UI &amp; NAVIGATION</a:t>
            </a:r>
          </a:p>
          <a:p>
            <a:r>
              <a:rPr sz="2200" b="1">
                <a:solidFill>
                  <a:srgbClr val="FFFFFF"/>
                </a:solidFill>
              </a:rPr>
              <a:t>Results: Home Page &amp; Official IRCTC Navigation Suite</a:t>
            </a:r>
          </a:p>
        </p:txBody>
      </p:sp>
      <p:pic>
        <p:nvPicPr>
          <p:cNvPr id="4" name="Picture 3" descr="page_1_img_1_16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164592"/>
            <a:ext cx="2011680" cy="72036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65392"/>
            <a:ext cx="10728655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r>
              <a:rPr sz="950">
                <a:solidFill>
                  <a:srgbClr val="475569"/>
                </a:solidFill>
              </a:rPr>
              <a:t>Chandigarh University • Dept of AIT-CSE • Himanshu Goyal (24BDA70369) • Supervisor: Er. Dheeresh Aggarwal</a:t>
            </a:r>
          </a:p>
        </p:txBody>
      </p:sp>
      <p:pic>
        <p:nvPicPr>
          <p:cNvPr id="7" name="Picture 6" descr="fig_nav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234440"/>
            <a:ext cx="10728655" cy="121535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" y="2468880"/>
            <a:ext cx="521208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60604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1E3A8A"/>
                </a:solidFill>
              </a:rPr>
              <a:t>Iconic IRCTC Royal Blue Navigation Bar
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0F172A"/>
                </a:solidFill>
              </a:rPr>
              <a:t>Authentic Pill Styling: </a:t>
            </a:r>
            <a:r>
              <a:rPr sz="900">
                <a:solidFill>
                  <a:srgbClr val="475569"/>
                </a:solidFill>
              </a:rPr>
              <a:t>Deep royal blue gradient container matching official Indian Railways web standards.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0F172A"/>
                </a:solidFill>
              </a:rPr>
              <a:t>Active Indicator Underline: </a:t>
            </a:r>
            <a:r>
              <a:rPr sz="900">
                <a:solidFill>
                  <a:srgbClr val="475569"/>
                </a:solidFill>
              </a:rPr>
              <a:t>Crisp white underline bar highlighting the active section (HOME).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0F172A"/>
                </a:solidFill>
              </a:rPr>
              <a:t>Dropdown Services: </a:t>
            </a:r>
            <a:r>
              <a:rPr sz="900">
                <a:solidFill>
                  <a:srgbClr val="475569"/>
                </a:solidFill>
              </a:rPr>
              <a:t>TRAINS ⌄ (Search, PNR, GPS), MEALS ⌄ (e-Catering, Jain Food), LOYALTY ⌄, E-WALLET ⌄, and ALERTS.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0F172A"/>
                </a:solidFill>
              </a:rPr>
              <a:t>Top Utility Strip: </a:t>
            </a:r>
            <a:r>
              <a:rPr sz="900">
                <a:solidFill>
                  <a:srgbClr val="475569"/>
                </a:solidFill>
              </a:rPr>
              <a:t>Live ticking Indian Standard Time (IST) clock, 24x7 Rail Helpline 139, and Language / Theme switches.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0F172A"/>
                </a:solidFill>
              </a:rPr>
              <a:t>Role-Specific Access: </a:t>
            </a:r>
            <a:r>
              <a:rPr sz="900">
                <a:solidFill>
                  <a:srgbClr val="475569"/>
                </a:solidFill>
              </a:rPr>
              <a:t>Specialized views and badges for Standard Passenger, Authorized Travel Agent, and System Administrator.</a:t>
            </a:r>
          </a:p>
        </p:txBody>
      </p:sp>
      <p:pic>
        <p:nvPicPr>
          <p:cNvPr id="10" name="Picture 9" descr="fig_bann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2468880"/>
            <a:ext cx="5242255" cy="1279847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217920" y="4114800"/>
            <a:ext cx="5242255" cy="22860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25196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D97706"/>
                </a:solidFill>
              </a:rPr>
              <a:t>⚡ Live Tatkal Countdown Widget
</a:t>
            </a:r>
          </a:p>
          <a:p>
            <a:r>
              <a:rPr sz="950"/>
              <a:t>• AC Tatkal Window: </a:t>
            </a:r>
            <a:r>
              <a:rPr sz="950"/>
              <a:t>Live countdown ticking to 10:00 AM IST daily opening.
</a:t>
            </a:r>
            <a:r>
              <a:rPr sz="950"/>
              <a:t>• Non-AC Tatkal Window: </a:t>
            </a:r>
            <a:r>
              <a:rPr sz="950"/>
              <a:t>Live countdown ticking to 11:00 AM IST daily opening.
</a:t>
            </a:r>
            <a:r>
              <a:rPr sz="950"/>
              <a:t>• Seamless Checkout: </a:t>
            </a:r>
            <a:r>
              <a:rPr sz="950"/>
              <a:t>Links directly into 1-Click GADDVYA Rail Wallet checkout to guarantee zero banking gateway timeout dropouts.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8229600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000" b="1">
                <a:solidFill>
                  <a:srgbClr val="93C5FD"/>
                </a:solidFill>
              </a:rPr>
              <a:t>AUTHENTICATION SUITE</a:t>
            </a:r>
          </a:p>
          <a:p>
            <a:r>
              <a:rPr sz="2200" b="1">
                <a:solidFill>
                  <a:srgbClr val="FFFFFF"/>
                </a:solidFill>
              </a:rPr>
              <a:t>Results: Dual-Factor OTP Authentication &amp; IRCTC Login</a:t>
            </a:r>
          </a:p>
        </p:txBody>
      </p:sp>
      <p:pic>
        <p:nvPicPr>
          <p:cNvPr id="4" name="Picture 3" descr="page_1_img_1_16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164592"/>
            <a:ext cx="2011680" cy="72036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65392"/>
            <a:ext cx="10728655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r>
              <a:rPr sz="950">
                <a:solidFill>
                  <a:srgbClr val="475569"/>
                </a:solidFill>
              </a:rPr>
              <a:t>Chandigarh University • Dept of AIT-CSE • Himanshu Goyal (24BDA70369) • Supervisor: Er. Dheeresh Aggarwal</a:t>
            </a:r>
          </a:p>
        </p:txBody>
      </p:sp>
      <p:pic>
        <p:nvPicPr>
          <p:cNvPr id="7" name="Picture 6" descr="fig_log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234440"/>
            <a:ext cx="3474720" cy="50642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480560" y="1234440"/>
            <a:ext cx="6949440" cy="5166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0" y="1417320"/>
            <a:ext cx="6400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1E3A8A"/>
                </a:solidFill>
              </a:rPr>
              <a:t>Dual-Factor Authentication Architecture
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0F172A"/>
                </a:solidFill>
              </a:rPr>
              <a:t>Domain-Restricted Email Verification: </a:t>
            </a:r>
            <a:r>
              <a:rPr sz="950">
                <a:solidFill>
                  <a:srgbClr val="475569"/>
                </a:solidFill>
              </a:rPr>
              <a:t>Passenger registrations enforce trusted, verifiable email providers strictly limited to Gmail, Outlook / Hotmail, iCloud, and Yahoo, neutralizing disposable fake accounts.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0F172A"/>
                </a:solidFill>
              </a:rPr>
              <a:t>10-Digit Indian Phone Validation: </a:t>
            </a:r>
            <a:r>
              <a:rPr sz="950">
                <a:solidFill>
                  <a:srgbClr val="475569"/>
                </a:solidFill>
              </a:rPr>
              <a:t>Validates authentic Indian mobile numbers (+91 prefix with 6-9 leading digits) and dispatches authentic 6-digit cryptographic OTPs with 5-minute validity windows.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0F172A"/>
                </a:solidFill>
              </a:rPr>
              <a:t>Authentic User vs. Agent Login Tabs: </a:t>
            </a:r>
            <a:r>
              <a:rPr sz="950">
                <a:solidFill>
                  <a:srgbClr val="475569"/>
                </a:solidFill>
              </a:rPr>
              <a:t>Replicates the official IRCTC modal design with dedicated tabs for standard Passengers and Authorized Travel Agents, alongside high-speed aerodynamic train artwork.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0F172A"/>
                </a:solidFill>
              </a:rPr>
              <a:t>Password Cryptography: </a:t>
            </a:r>
            <a:r>
              <a:rPr sz="950">
                <a:solidFill>
                  <a:srgbClr val="475569"/>
                </a:solidFill>
              </a:rPr>
              <a:t>Enforces 10 salt rounds with bcryptjs for password hashing. User passwords never touch the server in plaintext.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0F172A"/>
                </a:solidFill>
              </a:rPr>
              <a:t>Stateless JWT Authorization: </a:t>
            </a:r>
            <a:r>
              <a:rPr sz="950">
                <a:solidFill>
                  <a:srgbClr val="475569"/>
                </a:solidFill>
              </a:rPr>
              <a:t>Issues digitally signed JSON Web Tokens (HS256) valid for 7 days, eliminating server-side session memory load and ensuring fast, resilient API authorization.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8229600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000" b="1">
                <a:solidFill>
                  <a:srgbClr val="93C5FD"/>
                </a:solidFill>
              </a:rPr>
              <a:t>DISCOVERY &amp; SEAT PICKER</a:t>
            </a:r>
          </a:p>
          <a:p>
            <a:r>
              <a:rPr sz="2200" b="1">
                <a:solidFill>
                  <a:srgbClr val="FFFFFF"/>
                </a:solidFill>
              </a:rPr>
              <a:t>Results: Train Search, 6 Travel Classes &amp; Coach Seat Map</a:t>
            </a:r>
          </a:p>
        </p:txBody>
      </p:sp>
      <p:pic>
        <p:nvPicPr>
          <p:cNvPr id="4" name="Picture 3" descr="page_1_img_1_16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164592"/>
            <a:ext cx="2011680" cy="72036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65392"/>
            <a:ext cx="10728655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r>
              <a:rPr sz="950">
                <a:solidFill>
                  <a:srgbClr val="475569"/>
                </a:solidFill>
              </a:rPr>
              <a:t>Chandigarh University • Dept of AIT-CSE • Himanshu Goyal (24BDA70369) • Supervisor: Er. Dheeresh Aggarwal</a:t>
            </a:r>
          </a:p>
        </p:txBody>
      </p:sp>
      <p:pic>
        <p:nvPicPr>
          <p:cNvPr id="7" name="Picture 6" descr="fig_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234440"/>
            <a:ext cx="6400800" cy="358794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406640" y="1234440"/>
            <a:ext cx="4023360" cy="5166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417320"/>
            <a:ext cx="3657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E3A8A"/>
                </a:solidFill>
              </a:rPr>
              <a:t>Discovery &amp; Seat Selection
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0F172A"/>
                </a:solidFill>
              </a:rPr>
              <a:t>25,571 Pan-India Trains: </a:t>
            </a:r>
            <a:r>
              <a:rPr sz="950">
                <a:solidFill>
                  <a:srgbClr val="475569"/>
                </a:solidFill>
              </a:rPr>
              <a:t>Comprehensive database spanning Northern, Western, Southern, Eastern, and Central railway zones.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0F172A"/>
                </a:solidFill>
              </a:rPr>
              <a:t>6 Distinct Travel Classes: </a:t>
            </a:r>
            <a:r>
              <a:rPr sz="950">
                <a:solidFill>
                  <a:srgbClr val="475569"/>
                </a:solidFill>
              </a:rPr>
              <a:t>Supports 1A (First AC), 2A (Second AC), 3A (Third AC), SL (Sleeper), CC (Chair Car), and EC (Executive Chair Car) with differential tariff algorithms.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0F172A"/>
                </a:solidFill>
              </a:rPr>
              <a:t>Interactive Coach Seat Map: </a:t>
            </a:r>
            <a:r>
              <a:rPr sz="950">
                <a:solidFill>
                  <a:srgbClr val="475569"/>
                </a:solidFill>
              </a:rPr>
              <a:t>Visual coach layout displaying berth positions: Lower (L), Middle (M), Upper (U), Side Lower (SL), and Side Upper (SU).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0F172A"/>
                </a:solidFill>
              </a:rPr>
              <a:t>Multi-Passenger Booking: </a:t>
            </a:r>
            <a:r>
              <a:rPr sz="950">
                <a:solidFill>
                  <a:srgbClr val="475569"/>
                </a:solidFill>
              </a:rPr>
              <a:t>Enables seamless passenger manifest configuration with individual berth preferences in a single reservation.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8229600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000" b="1">
                <a:solidFill>
                  <a:srgbClr val="93C5FD"/>
                </a:solidFill>
              </a:rPr>
              <a:t>PAYMENT &amp; WALLET</a:t>
            </a:r>
          </a:p>
          <a:p>
            <a:r>
              <a:rPr sz="2200" b="1">
                <a:solidFill>
                  <a:srgbClr val="FFFFFF"/>
                </a:solidFill>
              </a:rPr>
              <a:t>Results: GADDVYA Rail Wallet &amp; 1-Click Tatkal Checkout</a:t>
            </a:r>
          </a:p>
        </p:txBody>
      </p:sp>
      <p:pic>
        <p:nvPicPr>
          <p:cNvPr id="4" name="Picture 3" descr="page_1_img_1_16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164592"/>
            <a:ext cx="2011680" cy="72036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65392"/>
            <a:ext cx="10728655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r>
              <a:rPr sz="950">
                <a:solidFill>
                  <a:srgbClr val="475569"/>
                </a:solidFill>
              </a:rPr>
              <a:t>Chandigarh University • Dept of AIT-CSE • Himanshu Goyal (24BDA70369) • Supervisor: Er. Dheeresh Aggarwal</a:t>
            </a:r>
          </a:p>
        </p:txBody>
      </p:sp>
      <p:pic>
        <p:nvPicPr>
          <p:cNvPr id="7" name="Picture 6" descr="fig_pay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234440"/>
            <a:ext cx="5669280" cy="314467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675120" y="1234440"/>
            <a:ext cx="4754880" cy="5166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0" y="1417320"/>
            <a:ext cx="4206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D97706"/>
                </a:solidFill>
              </a:rPr>
              <a:t>GADDVYA Rail Wallet Engine
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0F172A"/>
                </a:solidFill>
              </a:rPr>
              <a:t>1-Click Tatkal Checkout: </a:t>
            </a:r>
            <a:r>
              <a:rPr sz="950">
                <a:solidFill>
                  <a:srgbClr val="475569"/>
                </a:solidFill>
              </a:rPr>
              <a:t>Allows passengers to reserve tickets in &lt;200ms directly against their stored wallet balance, bypassing external banking gateway queues entirely.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0F172A"/>
                </a:solidFill>
              </a:rPr>
              <a:t>Zero Gateway Dropouts: </a:t>
            </a:r>
            <a:r>
              <a:rPr sz="950">
                <a:solidFill>
                  <a:srgbClr val="475569"/>
                </a:solidFill>
              </a:rPr>
              <a:t>Eliminates 3rd-party OTP and bank server delays, guaranteeing berth confirmation during peak Tatkal openings.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0F172A"/>
                </a:solidFill>
              </a:rPr>
              <a:t>100% Instant Auto-Refunds: </a:t>
            </a:r>
            <a:r>
              <a:rPr sz="950">
                <a:solidFill>
                  <a:srgbClr val="475569"/>
                </a:solidFill>
              </a:rPr>
              <a:t>When a ticket is cancelled, 100% of the fare is automatically credited back into the Rail Wallet within seconds.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0F172A"/>
                </a:solidFill>
              </a:rPr>
              <a:t>Multi-Modal Gateway Simulation: </a:t>
            </a:r>
            <a:r>
              <a:rPr sz="950">
                <a:solidFill>
                  <a:srgbClr val="475569"/>
                </a:solidFill>
              </a:rPr>
              <a:t>Supports simulated Card auto-formatting (16-digit, MM/YY, CVV), UPI Virtual Payment Addresses (user@oksbi), and NetBanking options.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8229600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000" b="1">
                <a:solidFill>
                  <a:srgbClr val="93C5FD"/>
                </a:solidFill>
              </a:rPr>
              <a:t>PASSENGER SERVICES</a:t>
            </a:r>
          </a:p>
          <a:p>
            <a:r>
              <a:rPr sz="2200" b="1">
                <a:solidFill>
                  <a:srgbClr val="FFFFFF"/>
                </a:solidFill>
              </a:rPr>
              <a:t>Results: Live Telemetry, e-Catering &amp; QR PDF E-Tickets</a:t>
            </a:r>
          </a:p>
        </p:txBody>
      </p:sp>
      <p:pic>
        <p:nvPicPr>
          <p:cNvPr id="4" name="Picture 3" descr="page_1_img_1_16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164592"/>
            <a:ext cx="2011680" cy="72036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65392"/>
            <a:ext cx="10728655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r>
              <a:rPr sz="950">
                <a:solidFill>
                  <a:srgbClr val="475569"/>
                </a:solidFill>
              </a:rPr>
              <a:t>Chandigarh University • Dept of AIT-CSE • Himanshu Goyal (24BDA70369) • Supervisor: Er. Dheeresh Aggarwal</a:t>
            </a:r>
          </a:p>
        </p:txBody>
      </p:sp>
      <p:pic>
        <p:nvPicPr>
          <p:cNvPr id="7" name="Picture 6" descr="fig_gps_track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234440"/>
            <a:ext cx="5212080" cy="3014875"/>
          </a:xfrm>
          <a:prstGeom prst="rect">
            <a:avLst/>
          </a:prstGeom>
        </p:spPr>
      </p:pic>
      <p:pic>
        <p:nvPicPr>
          <p:cNvPr id="8" name="Picture 7" descr="fig_pdf_tick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234440"/>
            <a:ext cx="5212080" cy="2902931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31520" y="4572000"/>
            <a:ext cx="10728655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66344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E3A8A"/>
                </a:solidFill>
              </a:rPr>
              <a:t>Integrated Passenger Travel Amenities:
</a:t>
            </a:r>
          </a:p>
          <a:p>
            <a:r>
              <a:rPr sz="950">
                <a:solidFill>
                  <a:srgbClr val="475569"/>
                </a:solidFill>
              </a:rPr>
              <a:t>• Live GPS Running Status: </a:t>
            </a:r>
            <a:r>
              <a:rPr sz="950">
                <a:solidFill>
                  <a:srgbClr val="475569"/>
                </a:solidFill>
              </a:rPr>
              <a:t>Multi-station route progress stepper with real-time speed in km/h, platform halts, and exact delay minutes.
</a:t>
            </a:r>
            <a:r>
              <a:rPr sz="950">
                <a:solidFill>
                  <a:srgbClr val="475569"/>
                </a:solidFill>
              </a:rPr>
              <a:t>• IRCTC e-Catering Food on Track: </a:t>
            </a:r>
            <a:r>
              <a:rPr sz="950">
                <a:solidFill>
                  <a:srgbClr val="475569"/>
                </a:solidFill>
              </a:rPr>
              <a:t>Order Maharaja Thalis, Domino's pizza, or certified pure Jain Satvik meals delivered directly to your berth.
</a:t>
            </a:r>
            <a:r>
              <a:rPr sz="950">
                <a:solidFill>
                  <a:srgbClr val="475569"/>
                </a:solidFill>
              </a:rPr>
              <a:t>• QR-Coded PDF E-Tickets: </a:t>
            </a:r>
            <a:r>
              <a:rPr sz="950">
                <a:solidFill>
                  <a:srgbClr val="475569"/>
                </a:solidFill>
              </a:rPr>
              <a:t>Browser-side PDF generation via jsPDF with embedded verification QR code, passenger manifest, and PNR.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8229600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000" b="1">
                <a:solidFill>
                  <a:srgbClr val="93C5FD"/>
                </a:solidFill>
              </a:rPr>
              <a:t>BOOKINGS &amp; REFUNDS</a:t>
            </a:r>
          </a:p>
          <a:p>
            <a:r>
              <a:rPr sz="2200" b="1">
                <a:solidFill>
                  <a:srgbClr val="FFFFFF"/>
                </a:solidFill>
              </a:rPr>
              <a:t>Results: 10-Digit PNR Inquiry &amp; Instant Cancellation Refund</a:t>
            </a:r>
          </a:p>
        </p:txBody>
      </p:sp>
      <p:pic>
        <p:nvPicPr>
          <p:cNvPr id="4" name="Picture 3" descr="page_1_img_1_16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164592"/>
            <a:ext cx="2011680" cy="72036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65392"/>
            <a:ext cx="10728655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r>
              <a:rPr sz="950">
                <a:solidFill>
                  <a:srgbClr val="475569"/>
                </a:solidFill>
              </a:rPr>
              <a:t>Chandigarh University • Dept of AIT-CSE • Himanshu Goyal (24BDA70369) • Supervisor: Er. Dheeresh Aggarwal</a:t>
            </a:r>
          </a:p>
        </p:txBody>
      </p:sp>
      <p:pic>
        <p:nvPicPr>
          <p:cNvPr id="7" name="Picture 6" descr="fig_bookin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234440"/>
            <a:ext cx="6583680" cy="412765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589520" y="1234440"/>
            <a:ext cx="3840480" cy="5166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1417320"/>
            <a:ext cx="3474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059669"/>
                </a:solidFill>
              </a:rPr>
              <a:t>PNR &amp; Instant Auto-Refund
</a:t>
            </a:r>
          </a:p>
          <a:p>
            <a:pPr>
              <a:spcBef>
                <a:spcPts val="600"/>
              </a:spcBef>
            </a:pPr>
            <a:r>
              <a:rPr sz="950">
                <a:solidFill>
                  <a:srgbClr val="0F172A"/>
                </a:solidFill>
              </a:rPr>
              <a:t>10-Digit Algorithmic PNR: </a:t>
            </a:r>
            <a:r>
              <a:rPr sz="900">
                <a:solidFill>
                  <a:srgbClr val="475569"/>
                </a:solidFill>
              </a:rPr>
              <a:t>Every reservation receives an authentic 10-digit Passenger Name Record (e.g., 824-192-0481) for tracking.</a:t>
            </a:r>
          </a:p>
          <a:p>
            <a:pPr>
              <a:spcBef>
                <a:spcPts val="600"/>
              </a:spcBef>
            </a:pPr>
            <a:r>
              <a:rPr sz="950">
                <a:solidFill>
                  <a:srgbClr val="0F172A"/>
                </a:solidFill>
              </a:rPr>
              <a:t>Public PNR Inquiry: </a:t>
            </a:r>
            <a:r>
              <a:rPr sz="900">
                <a:solidFill>
                  <a:srgbClr val="475569"/>
                </a:solidFill>
              </a:rPr>
              <a:t>Dedicated public inquiry portal allows travelers to verify live booking status without logging in.</a:t>
            </a:r>
          </a:p>
          <a:p>
            <a:pPr>
              <a:spcBef>
                <a:spcPts val="600"/>
              </a:spcBef>
            </a:pPr>
            <a:r>
              <a:rPr sz="950">
                <a:solidFill>
                  <a:srgbClr val="0F172A"/>
                </a:solidFill>
              </a:rPr>
              <a:t>1-Click Ticket Cancellation: </a:t>
            </a:r>
            <a:r>
              <a:rPr sz="900">
                <a:solidFill>
                  <a:srgbClr val="475569"/>
                </a:solidFill>
              </a:rPr>
              <a:t>Passengers can cancel confirmed tickets with a single click in their booking dashboard.</a:t>
            </a:r>
          </a:p>
          <a:p>
            <a:pPr>
              <a:spcBef>
                <a:spcPts val="600"/>
              </a:spcBef>
            </a:pPr>
            <a:r>
              <a:rPr sz="950">
                <a:solidFill>
                  <a:srgbClr val="0F172A"/>
                </a:solidFill>
              </a:rPr>
              <a:t>100% Instant Wallet Refund: </a:t>
            </a:r>
            <a:r>
              <a:rPr sz="900">
                <a:solidFill>
                  <a:srgbClr val="475569"/>
                </a:solidFill>
              </a:rPr>
              <a:t>Unlike legacy IRCTC which takes 3-7 banking days, GADDVYA credits 100% of the fare back to the user's Rail Wallet in &lt;1 second.</a:t>
            </a:r>
          </a:p>
          <a:p>
            <a:pPr>
              <a:spcBef>
                <a:spcPts val="600"/>
              </a:spcBef>
            </a:pPr>
            <a:r>
              <a:rPr sz="950">
                <a:solidFill>
                  <a:srgbClr val="0F172A"/>
                </a:solidFill>
              </a:rPr>
              <a:t>Automatic Seat Restoration: </a:t>
            </a:r>
            <a:r>
              <a:rPr sz="900">
                <a:solidFill>
                  <a:srgbClr val="475569"/>
                </a:solidFill>
              </a:rPr>
              <a:t>Cancelled berths are instantly unlocked and added back to the train's available seat inventory in Supabase PostgreSQL.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8229600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000" b="1">
                <a:solidFill>
                  <a:srgbClr val="93C5FD"/>
                </a:solidFill>
              </a:rPr>
              <a:t>ADMIN DASHBOARD</a:t>
            </a:r>
          </a:p>
          <a:p>
            <a:r>
              <a:rPr sz="2200" b="1">
                <a:solidFill>
                  <a:srgbClr val="FFFFFF"/>
                </a:solidFill>
              </a:rPr>
              <a:t>Results: Admin Fleet Controller &amp; SVG Analytics</a:t>
            </a:r>
          </a:p>
        </p:txBody>
      </p:sp>
      <p:pic>
        <p:nvPicPr>
          <p:cNvPr id="4" name="Picture 3" descr="page_1_img_1_16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164592"/>
            <a:ext cx="2011680" cy="72036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65392"/>
            <a:ext cx="10728655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r>
              <a:rPr sz="950">
                <a:solidFill>
                  <a:srgbClr val="475569"/>
                </a:solidFill>
              </a:rPr>
              <a:t>Chandigarh University • Dept of AIT-CSE • Himanshu Goyal (24BDA70369) • Supervisor: Er. Dheeresh Aggarwal</a:t>
            </a:r>
          </a:p>
        </p:txBody>
      </p:sp>
      <p:pic>
        <p:nvPicPr>
          <p:cNvPr id="7" name="Picture 6" descr="fig_admin_char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234440"/>
            <a:ext cx="5669280" cy="5980561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675120" y="1234440"/>
            <a:ext cx="4754880" cy="5166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0" y="1417320"/>
            <a:ext cx="4206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E3A8A"/>
                </a:solidFill>
              </a:rPr>
              <a:t>Admin Analytics &amp; Turbo Seeder
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0F172A"/>
                </a:solidFill>
              </a:rPr>
              <a:t>Dynamic SVG Visualizations: </a:t>
            </a:r>
            <a:r>
              <a:rPr sz="950">
                <a:solidFill>
                  <a:srgbClr val="475569"/>
                </a:solidFill>
              </a:rPr>
              <a:t>Interactive area graphs illustrating daily revenue trends, booking volume timelines, and user traffic curves.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0F172A"/>
                </a:solidFill>
              </a:rPr>
              <a:t>Travel Class Demand Donut: </a:t>
            </a:r>
            <a:r>
              <a:rPr sz="950">
                <a:solidFill>
                  <a:srgbClr val="475569"/>
                </a:solidFill>
              </a:rPr>
              <a:t>Real-time proportion analysis across 1A, 2A, 3A, Sleeper, and Chair Car reservations.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0F172A"/>
                </a:solidFill>
              </a:rPr>
              <a:t>Route Occupancy Capacity Bars: </a:t>
            </a:r>
            <a:r>
              <a:rPr sz="950">
                <a:solidFill>
                  <a:srgbClr val="475569"/>
                </a:solidFill>
              </a:rPr>
              <a:t>Visual meters highlighting route utilization percentages on high-traffic rail corridors.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0F172A"/>
                </a:solidFill>
              </a:rPr>
              <a:t>1-Click Turbo Fleet Seeder: </a:t>
            </a:r>
            <a:r>
              <a:rPr sz="950">
                <a:solidFill>
                  <a:srgbClr val="475569"/>
                </a:solidFill>
              </a:rPr>
              <a:t>Seeds and populates 400+ premier trains (Vande Bharat, Rajdhani, Shatabdi) across India in under 1 second.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0F172A"/>
                </a:solidFill>
              </a:rPr>
              <a:t>Stream Fleet Ingestion: </a:t>
            </a:r>
            <a:r>
              <a:rPr sz="950">
                <a:solidFill>
                  <a:srgbClr val="475569"/>
                </a:solidFill>
              </a:rPr>
              <a:t>Chunked streaming architecture (500 records/batch) to ingest the complete 25,571 train roster without PostgREST timeouts.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8229600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000" b="1">
                <a:solidFill>
                  <a:srgbClr val="93C5FD"/>
                </a:solidFill>
              </a:rPr>
              <a:t>PROJECT CONCLUSION</a:t>
            </a:r>
          </a:p>
          <a:p>
            <a:r>
              <a:rPr sz="2200" b="1">
                <a:solidFill>
                  <a:srgbClr val="FFFFFF"/>
                </a:solidFill>
              </a:rPr>
              <a:t>Conclusion: Key Outcomes &amp; Performance Metrics</a:t>
            </a:r>
          </a:p>
        </p:txBody>
      </p:sp>
      <p:pic>
        <p:nvPicPr>
          <p:cNvPr id="4" name="Picture 3" descr="page_1_img_1_16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164592"/>
            <a:ext cx="2011680" cy="72036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65392"/>
            <a:ext cx="10728655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r>
              <a:rPr sz="950">
                <a:solidFill>
                  <a:srgbClr val="475569"/>
                </a:solidFill>
              </a:rPr>
              <a:t>Chandigarh University • Dept of AIT-CSE • Himanshu Goyal (24BDA70369) • Supervisor: Er. Dheeresh Aggarwal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2120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E3A8A"/>
                </a:solidFill>
              </a:rPr>
              <a:t>Summary of Engineering Achievements
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0F172A"/>
                </a:solidFill>
              </a:rPr>
              <a:t>Production Cloud Deployment: </a:t>
            </a:r>
            <a:r>
              <a:rPr sz="900">
                <a:solidFill>
                  <a:srgbClr val="475569"/>
                </a:solidFill>
              </a:rPr>
              <a:t>Full-stack application deployed on Vercel with automated GitHub CI/CD.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0F172A"/>
                </a:solidFill>
              </a:rPr>
              <a:t>ACID Database Reliability: </a:t>
            </a:r>
            <a:r>
              <a:rPr sz="900">
                <a:solidFill>
                  <a:srgbClr val="475569"/>
                </a:solidFill>
              </a:rPr>
              <a:t>Supabase PostgreSQL delivers robust relational integrity and eliminates double-booking.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0F172A"/>
                </a:solidFill>
              </a:rPr>
              <a:t>Tatkal Bottlenecks Solved: </a:t>
            </a:r>
            <a:r>
              <a:rPr sz="900">
                <a:solidFill>
                  <a:srgbClr val="475569"/>
                </a:solidFill>
              </a:rPr>
              <a:t>GADDVYA Rail Wallet eliminates 3rd-party gateway dropouts with 1-click checkout and instant refunds.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0F172A"/>
                </a:solidFill>
              </a:rPr>
              <a:t>Comprehensive Train Fleet: </a:t>
            </a:r>
            <a:r>
              <a:rPr sz="900">
                <a:solidFill>
                  <a:srgbClr val="475569"/>
                </a:solidFill>
              </a:rPr>
              <a:t>25,571 train schedules with instant 1-Click Turbo Seeder (&lt;1s).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0F172A"/>
                </a:solidFill>
              </a:rPr>
              <a:t>End-to-End Passenger Suite: </a:t>
            </a:r>
            <a:r>
              <a:rPr sz="900">
                <a:solidFill>
                  <a:srgbClr val="475569"/>
                </a:solidFill>
              </a:rPr>
              <a:t>Dual-factor OTP, coach seat maps, 10-digit PNR, QR PDF tickets, live GPS tracking, and e-catering.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0F172A"/>
                </a:solidFill>
              </a:rPr>
              <a:t>Trilingual Accessibility: </a:t>
            </a:r>
            <a:r>
              <a:rPr sz="900">
                <a:solidFill>
                  <a:srgbClr val="475569"/>
                </a:solidFill>
              </a:rPr>
              <a:t>Complete localization across English, Hindi, and Punjabi with instant dark/light/IRCTC blue themes.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242255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46304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059669"/>
                </a:solidFill>
              </a:rPr>
              <a:t>Validated Performance Benchmarks
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0F172A"/>
                </a:solidFill>
              </a:rPr>
              <a:t>• Home Page Load Time: </a:t>
            </a:r>
            <a:r>
              <a:rPr sz="900">
                <a:solidFill>
                  <a:srgbClr val="475569"/>
                </a:solidFill>
              </a:rPr>
              <a:t>0.85 s (Target: &lt; 2.5 s) — Superior ✔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0F172A"/>
                </a:solidFill>
              </a:rPr>
              <a:t>• Train Search Query Latency: </a:t>
            </a:r>
            <a:r>
              <a:rPr sz="900">
                <a:solidFill>
                  <a:srgbClr val="475569"/>
                </a:solidFill>
              </a:rPr>
              <a:t>240 ms (Target: &lt; 500 ms) — Compliant ✔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0F172A"/>
                </a:solidFill>
              </a:rPr>
              <a:t>• Booking Reservation Latency: </a:t>
            </a:r>
            <a:r>
              <a:rPr sz="900">
                <a:solidFill>
                  <a:srgbClr val="475569"/>
                </a:solidFill>
              </a:rPr>
              <a:t>310 ms (Target: &lt; 500 ms) — Compliant ✔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0F172A"/>
                </a:solidFill>
              </a:rPr>
              <a:t>• Turbo Seeder Execution Time: </a:t>
            </a:r>
            <a:r>
              <a:rPr sz="900">
                <a:solidFill>
                  <a:srgbClr val="475569"/>
                </a:solidFill>
              </a:rPr>
              <a:t>840 ms (Target: &lt; 2.0 s) — Instant ✔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0F172A"/>
                </a:solidFill>
              </a:rPr>
              <a:t>• Rail Wallet 1-Click Tatkal: </a:t>
            </a:r>
            <a:r>
              <a:rPr sz="900">
                <a:solidFill>
                  <a:srgbClr val="475569"/>
                </a:solidFill>
              </a:rPr>
              <a:t>180 ms (Target: &lt; 1.0 s) — Zero Lag ✔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0F172A"/>
                </a:solidFill>
              </a:rPr>
              <a:t>• PDF Ticket QR Render Time: </a:t>
            </a:r>
            <a:r>
              <a:rPr sz="900">
                <a:solidFill>
                  <a:srgbClr val="475569"/>
                </a:solidFill>
              </a:rPr>
              <a:t>120 ms (Target: &lt; 500 ms) — Compliant ✔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0F172A"/>
                </a:solidFill>
              </a:rPr>
              <a:t>• Vercel Build Compilation: </a:t>
            </a:r>
            <a:r>
              <a:rPr sz="900">
                <a:solidFill>
                  <a:srgbClr val="475569"/>
                </a:solidFill>
              </a:rPr>
              <a:t>2.8 s (Target: &lt; 30 s) — Ultra-Fast ✔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0F172A"/>
                </a:solidFill>
              </a:rPr>
              <a:t>• Supabase Connection Reuse: </a:t>
            </a:r>
            <a:r>
              <a:rPr sz="900">
                <a:solidFill>
                  <a:srgbClr val="475569"/>
                </a:solidFill>
              </a:rPr>
              <a:t>&lt; 3 ms (Target: &lt; 20 ms) — Optimized ✔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8229600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000" b="1">
                <a:solidFill>
                  <a:srgbClr val="93C5FD"/>
                </a:solidFill>
              </a:rPr>
              <a:t>ROADMAP &amp; NEXT STEPS</a:t>
            </a:r>
          </a:p>
          <a:p>
            <a:r>
              <a:rPr sz="2200" b="1">
                <a:solidFill>
                  <a:srgbClr val="FFFFFF"/>
                </a:solidFill>
              </a:rPr>
              <a:t>Future Scope: Production Roadmap</a:t>
            </a:r>
          </a:p>
        </p:txBody>
      </p:sp>
      <p:pic>
        <p:nvPicPr>
          <p:cNvPr id="4" name="Picture 3" descr="page_1_img_1_16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164592"/>
            <a:ext cx="2011680" cy="72036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65392"/>
            <a:ext cx="10728655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r>
              <a:rPr sz="950">
                <a:solidFill>
                  <a:srgbClr val="475569"/>
                </a:solidFill>
              </a:rPr>
              <a:t>Chandigarh University • Dept of AIT-CSE • Himanshu Goyal (24BDA70369) • Supervisor: Er. Dheeresh Aggarwal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347472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39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1E3A8A"/>
                </a:solidFill>
              </a:rPr>
              <a:t>1. Live Banking Gateway Integration</a:t>
            </a:r>
          </a:p>
          <a:p>
            <a:pPr>
              <a:spcBef>
                <a:spcPts val="600"/>
              </a:spcBef>
            </a:pPr>
            <a:r>
              <a:rPr sz="950">
                <a:solidFill>
                  <a:srgbClr val="475569"/>
                </a:solidFill>
              </a:rPr>
              <a:t>Transition from simulated payment flows to live merchant settlement via Razorpay / PayU gateways compliant with RBI card-on-file tokenization guidelines.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25880"/>
            <a:ext cx="347472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463039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563EB"/>
                </a:solidFill>
              </a:rPr>
              <a:t>2. Direct CRIS / NTES API Bridge</a:t>
            </a:r>
          </a:p>
          <a:p>
            <a:pPr>
              <a:spcBef>
                <a:spcPts val="600"/>
              </a:spcBef>
            </a:pPr>
            <a:r>
              <a:rPr sz="950">
                <a:solidFill>
                  <a:srgbClr val="475569"/>
                </a:solidFill>
              </a:rPr>
              <a:t>Establish production data exchange with Centre for Railway Information Systems (CRIS) for dynamic timetable synchronization and chart preparation updates.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325880"/>
            <a:ext cx="347472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463039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D97706"/>
                </a:solidFill>
              </a:rPr>
              <a:t>3. WhatsApp &amp; SMS Passenger Gateways</a:t>
            </a:r>
          </a:p>
          <a:p>
            <a:pPr>
              <a:spcBef>
                <a:spcPts val="600"/>
              </a:spcBef>
            </a:pPr>
            <a:r>
              <a:rPr sz="950">
                <a:solidFill>
                  <a:srgbClr val="475569"/>
                </a:solidFill>
              </a:rPr>
              <a:t>Integrate Twilio or Gupshup automated messaging APIs to dispatch instant PDF tickets, delay alerts, and platform announcements directly to mobile devices.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794760"/>
            <a:ext cx="347472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93192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9333EA"/>
                </a:solidFill>
              </a:rPr>
              <a:t>4. AI Waitlist &amp; Tatkal Predictor</a:t>
            </a:r>
          </a:p>
          <a:p>
            <a:pPr>
              <a:spcBef>
                <a:spcPts val="600"/>
              </a:spcBef>
            </a:pPr>
            <a:r>
              <a:rPr sz="950">
                <a:solidFill>
                  <a:srgbClr val="475569"/>
                </a:solidFill>
              </a:rPr>
              <a:t>Deploy machine learning models to forecast Tatkal confirmation probabilities, predict passenger demand spikes, and provide intelligent itinerary recommendations.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3794760"/>
            <a:ext cx="347472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393192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059669"/>
                </a:solidFill>
              </a:rPr>
              <a:t>5. Cross-Platform Mobile Applications</a:t>
            </a:r>
          </a:p>
          <a:p>
            <a:pPr>
              <a:spcBef>
                <a:spcPts val="600"/>
              </a:spcBef>
            </a:pPr>
            <a:r>
              <a:rPr sz="950">
                <a:solidFill>
                  <a:srgbClr val="475569"/>
                </a:solidFill>
              </a:rPr>
              <a:t>Develop high-performance native iOS and Android applications using React Native / Flutter sharing the existing Next.js backend RESTful APIs.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3794760"/>
            <a:ext cx="347472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393192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E11D48"/>
                </a:solidFill>
              </a:rPr>
              <a:t>6. TTE Offline Digital Ticket Scanner</a:t>
            </a:r>
          </a:p>
          <a:p>
            <a:pPr>
              <a:spcBef>
                <a:spcPts val="600"/>
              </a:spcBef>
            </a:pPr>
            <a:r>
              <a:rPr sz="950">
                <a:solidFill>
                  <a:srgbClr val="475569"/>
                </a:solidFill>
              </a:rPr>
              <a:t>Engineer an offline Progressive Web Application (PWA) for onboard Train Ticket Examiners (TTE) to scan and cryptographically verify passenger ticket QR codes.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8229600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000" b="1">
                <a:solidFill>
                  <a:srgbClr val="93C5FD"/>
                </a:solidFill>
              </a:rPr>
              <a:t>CITATIONS</a:t>
            </a:r>
          </a:p>
          <a:p>
            <a:r>
              <a:rPr sz="2200" b="1">
                <a:solidFill>
                  <a:srgbClr val="FFFFFF"/>
                </a:solidFill>
              </a:rPr>
              <a:t>References &amp; Acknowledgements</a:t>
            </a:r>
          </a:p>
        </p:txBody>
      </p:sp>
      <p:pic>
        <p:nvPicPr>
          <p:cNvPr id="4" name="Picture 3" descr="page_1_img_1_16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164592"/>
            <a:ext cx="2011680" cy="72036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65392"/>
            <a:ext cx="10728655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r>
              <a:rPr sz="950">
                <a:solidFill>
                  <a:srgbClr val="475569"/>
                </a:solidFill>
              </a:rPr>
              <a:t>Chandigarh University • Dept of AIT-CSE • Himanshu Goyal (24BDA70369) • Supervisor: Er. Dheeresh Aggarwal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685800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17320"/>
            <a:ext cx="6492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1E3A8A"/>
                </a:solidFill>
              </a:rPr>
              <a:t>Key References &amp; Literature Cited
</a:t>
            </a:r>
          </a:p>
          <a:p>
            <a:pPr>
              <a:spcBef>
                <a:spcPts val="300"/>
              </a:spcBef>
            </a:pPr>
            <a:r>
              <a:rPr sz="850">
                <a:solidFill>
                  <a:srgbClr val="475569"/>
                </a:solidFill>
              </a:rPr>
              <a:t>• Vercel Inc. (2024). Next.js 16 Documentation: App Router, Server Components &amp; Edge Runtime.</a:t>
            </a:r>
          </a:p>
          <a:p>
            <a:pPr>
              <a:spcBef>
                <a:spcPts val="300"/>
              </a:spcBef>
            </a:pPr>
            <a:r>
              <a:rPr sz="850">
                <a:solidFill>
                  <a:srgbClr val="475569"/>
                </a:solidFill>
              </a:rPr>
              <a:t>• Supabase Inc. (2024). Supabase Cloud PostgreSQL, PostgREST API Integration &amp; High-Availability Clusters.</a:t>
            </a:r>
          </a:p>
          <a:p>
            <a:pPr>
              <a:spcBef>
                <a:spcPts val="300"/>
              </a:spcBef>
            </a:pPr>
            <a:r>
              <a:rPr sz="850">
                <a:solidFill>
                  <a:srgbClr val="475569"/>
                </a:solidFill>
              </a:rPr>
              <a:t>• Auth0 Engineering. (2024). JSON Web Tokens (JWT) Architecture, HS256 Signing &amp; Security Standards.</a:t>
            </a:r>
          </a:p>
          <a:p>
            <a:pPr>
              <a:spcBef>
                <a:spcPts val="300"/>
              </a:spcBef>
            </a:pPr>
            <a:r>
              <a:rPr sz="850">
                <a:solidFill>
                  <a:srgbClr val="475569"/>
                </a:solidFill>
              </a:rPr>
              <a:t>• Kelektiv Node Team. (2024). bcryptjs: Optimized Password Hashing in Modern JavaScript.</a:t>
            </a:r>
          </a:p>
          <a:p>
            <a:pPr>
              <a:spcBef>
                <a:spcPts val="300"/>
              </a:spcBef>
            </a:pPr>
            <a:r>
              <a:rPr sz="850">
                <a:solidFill>
                  <a:srgbClr val="475569"/>
                </a:solidFill>
              </a:rPr>
              <a:t>• Tailwind Labs. (2024). Tailwind CSS v4 Documentation: Utility-First Responsive Styling.</a:t>
            </a:r>
          </a:p>
          <a:p>
            <a:pPr>
              <a:spcBef>
                <a:spcPts val="300"/>
              </a:spcBef>
            </a:pPr>
            <a:r>
              <a:rPr sz="850">
                <a:solidFill>
                  <a:srgbClr val="475569"/>
                </a:solidFill>
              </a:rPr>
              <a:t>• Poimandres. (2024). Zustand: Scalable Bear-Bones State Management in React.</a:t>
            </a:r>
          </a:p>
          <a:p>
            <a:pPr>
              <a:spcBef>
                <a:spcPts val="300"/>
              </a:spcBef>
            </a:pPr>
            <a:r>
              <a:rPr sz="850">
                <a:solidFill>
                  <a:srgbClr val="475569"/>
                </a:solidFill>
              </a:rPr>
              <a:t>• jsPDF Documentation Team. (2024). Client-Side Vector PDF Generation &amp; QR Code Rendering.</a:t>
            </a:r>
          </a:p>
          <a:p>
            <a:pPr>
              <a:spcBef>
                <a:spcPts val="300"/>
              </a:spcBef>
            </a:pPr>
            <a:r>
              <a:rPr sz="850">
                <a:solidFill>
                  <a:srgbClr val="475569"/>
                </a:solidFill>
              </a:rPr>
              <a:t>• Ministry of Railways, Govt of India. (2023). Annual Statistical Report: Passenger Concurrency &amp; Reservations.</a:t>
            </a:r>
          </a:p>
          <a:p>
            <a:pPr>
              <a:spcBef>
                <a:spcPts val="300"/>
              </a:spcBef>
            </a:pPr>
            <a:r>
              <a:rPr sz="850">
                <a:solidFill>
                  <a:srgbClr val="475569"/>
                </a:solidFill>
              </a:rPr>
              <a:t>• IRCTC. (2024). Indian Railway Catering &amp; Tourism Corporation: NextGen e-Ticketing System Overview.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1280160"/>
            <a:ext cx="3596335" cy="49377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201168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THANK YOU
</a:t>
            </a:r>
          </a:p>
          <a:p>
            <a:pPr algn="ctr"/>
            <a:r>
              <a:rPr sz="1400">
                <a:solidFill>
                  <a:srgbClr val="38BDF8"/>
                </a:solidFill>
              </a:rPr>
              <a:t>Questions &amp; Discussion
</a:t>
            </a:r>
          </a:p>
          <a:p>
            <a:pPr algn="ctr"/>
            <a:r>
              <a:rPr sz="1000">
                <a:solidFill>
                  <a:srgbClr val="CBD5E1"/>
                </a:solidFill>
              </a:rPr>
              <a:t>Himanshu Goyal (UID: 24BDA70369)
Sole Author • Academic Session: 2026 – 2027
Supervisor: Er. Dheeresh Aggarwal
Dept of AIT-CSE, Chandigarh University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